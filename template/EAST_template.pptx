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1546" r:id="rId3"/>
    <p:sldId id="1583" r:id="rId4"/>
    <p:sldId id="1584" r:id="rId5"/>
    <p:sldId id="1309" r:id="rId6"/>
    <p:sldId id="1174" r:id="rId7"/>
    <p:sldId id="1176" r:id="rId8"/>
    <p:sldId id="1518" r:id="rId9"/>
    <p:sldId id="1534" r:id="rId10"/>
    <p:sldId id="1540" r:id="rId11"/>
    <p:sldId id="1315" r:id="rId12"/>
    <p:sldId id="1316" r:id="rId13"/>
    <p:sldId id="1318" r:id="rId14"/>
    <p:sldId id="1319" r:id="rId15"/>
    <p:sldId id="1320" r:id="rId16"/>
    <p:sldId id="1321" r:id="rId17"/>
    <p:sldId id="1158" r:id="rId18"/>
    <p:sldId id="1585" r:id="rId32"/>
  </p:sldIdLst>
  <p:sldSz cx="12192000" cy="6858000"/>
  <p:notesSz cx="6858000" cy="9144000"/>
  <p:embeddedFontLst>
    <p:embeddedFont>
      <p:font typeface="AppleSDGothicNeoB00" panose="02000503000000000000" pitchFamily="2" charset="-127"/>
      <p:regular r:id="rId20"/>
    </p:embeddedFont>
    <p:embeddedFont>
      <p:font typeface="AppleSDGothicNeoH00" panose="02000503000000000000" pitchFamily="2" charset="-127"/>
      <p:regular r:id="rId21"/>
    </p:embeddedFont>
    <p:embeddedFont>
      <p:font typeface="AppleSDGothicNeoL00" panose="02000503000000000000" pitchFamily="2" charset="-127"/>
      <p:regular r:id="rId22"/>
    </p:embeddedFont>
    <p:embeddedFont>
      <p:font typeface="AppleSDGothicNeoM00" panose="02000503000000000000" pitchFamily="2" charset="-127"/>
      <p:regular r:id="rId23"/>
    </p:embeddedFont>
    <p:embeddedFont>
      <p:font typeface="AppleSDGothicNeoSB00" panose="02000503000000000000" pitchFamily="2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EAST" id="{54CED9E8-F102-4637-9B9A-63783DDC9320}">
          <p14:sldIdLst>
            <p14:sldId id="256"/>
            <p14:sldId id="1546"/>
            <p14:sldId id="1583"/>
            <p14:sldId id="1584"/>
          </p14:sldIdLst>
        </p14:section>
        <p14:section name="ID" id="{9AF7C729-C2C9-4DE7-9B40-34747468B388}">
          <p14:sldIdLst>
            <p14:sldId id="1309"/>
            <p14:sldId id="1174"/>
            <p14:sldId id="1176"/>
          </p14:sldIdLst>
        </p14:section>
        <p14:section name="MY" id="{742D9F99-0993-4F41-979B-C8B432905631}">
          <p14:sldIdLst>
            <p14:sldId id="1518"/>
            <p14:sldId id="1534"/>
            <p14:sldId id="1540"/>
          </p14:sldIdLst>
        </p14:section>
        <p14:section name="PH" id="{1BECFFD3-7D25-4F61-9CCA-F238147598F3}">
          <p14:sldIdLst>
            <p14:sldId id="1315"/>
            <p14:sldId id="1316"/>
            <p14:sldId id="1318"/>
          </p14:sldIdLst>
        </p14:section>
        <p14:section name="SG" id="{33C02368-76CA-4615-B63C-9335F32498DD}">
          <p14:sldIdLst>
            <p14:sldId id="1319"/>
            <p14:sldId id="1320"/>
            <p14:sldId id="1321"/>
            <p14:sldId id="1158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jO97EwT4krWOvTYOGhXTznXbi1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A71"/>
    <a:srgbClr val="45464A"/>
    <a:srgbClr val="F8D8DD"/>
    <a:srgbClr val="C78C98"/>
    <a:srgbClr val="F4F6F8"/>
    <a:srgbClr val="71A8D1"/>
    <a:srgbClr val="85A8C1"/>
    <a:srgbClr val="93C0D7"/>
    <a:srgbClr val="EBEBE9"/>
    <a:srgbClr val="C29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D0447-53C6-4A94-8F4C-BDEEDFA1E0C2}">
  <a:tblStyle styleId="{0CDD0447-53C6-4A94-8F4C-BDEEDFA1E0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242" autoAdjust="0"/>
  </p:normalViewPr>
  <p:slideViewPr>
    <p:cSldViewPr snapToGrid="0">
      <p:cViewPr varScale="1">
        <p:scale>
          <a:sx n="102" d="100"/>
          <a:sy n="102" d="100"/>
        </p:scale>
        <p:origin x="1284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990"/>
    </p:cViewPr>
  </p:sorter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32" Type="http://schemas.openxmlformats.org/officeDocument/2006/relationships/slide" Target="slides/slide18.xml"/><Relationship Id="rId76" Type="http://customschemas.google.com/relationships/presentationmetadata" Target="meta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8615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7C3D-049A-7C37-AC38-22F4754B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956E62-6712-AD17-8540-C82534A03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E7B07-C1DE-D75B-F13B-411B3AC7D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29EE30-5D35-83D5-54A5-68D38C164A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747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27DF-3EF9-F1F0-96FB-A7720AAB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7B824C-5FEE-68F3-F2C4-F8094BCD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6D041-0439-743D-B038-0C959629C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84EFE-5F91-8EF1-87A8-09C5B28FC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94465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900A1227-50EB-5F82-DB67-EBD1A1C9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8BF1D22C-781A-9325-B43F-1E44FE052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40FED41F-5AC3-EBAA-FD5A-A3DC9AD04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0449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8EA3391-92C4-6A10-DBF1-A6D504F0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7C7CA661-FFD9-0FE3-38AB-F2D0CF74E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E54929CE-D8C8-7A88-D7D0-6F2B3E2B5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2545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8C08AC41-16B1-594E-879C-A24ECB76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029E70BC-34B8-E8B2-757F-2515F5EC5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E35E6A63-8B02-4F00-4BD7-DFB2046CC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4517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1DB67349-E8D5-D591-8887-FDE70ABB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AC5B44AB-A34B-94D5-55B7-5281CECB4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3A540347-EA8B-F439-F703-9DD1185BE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7336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EAS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04B67D4C-11FA-7ABC-1D1D-63F81B5A2109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F4081EA9-CAF7-80A4-2761-0BE3EB2426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C448A-FF79-E9BD-5F64-E9954E46D7B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EAST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>
  <p:cSld name="ID - OG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04B67D4C-11FA-7ABC-1D1D-63F81B5A2109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F4081EA9-CAF7-80A4-2761-0BE3EB2426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C448A-FF79-E9BD-5F64-E9954E46D7B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ID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0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>
  <p:cSld name="ID - P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04B67D4C-11FA-7ABC-1D1D-63F81B5A2109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F4081EA9-CAF7-80A4-2761-0BE3EB2426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C448A-FF79-E9BD-5F64-E9954E46D7B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ID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1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MY - OG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MY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97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MY - P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MY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10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PH - OG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PH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7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PH - P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PH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519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SG - OG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SG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56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SG - P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SG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9490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8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06">
          <p15:clr>
            <a:srgbClr val="F26B43"/>
          </p15:clr>
        </p15:guide>
        <p15:guide id="2" pos="7174">
          <p15:clr>
            <a:srgbClr val="F26B43"/>
          </p15:clr>
        </p15:guide>
        <p15:guide id="4" orient="horz" pos="3918" userDrawn="1">
          <p15:clr>
            <a:srgbClr val="F26B43"/>
          </p15:clr>
        </p15:guide>
        <p15:guide id="5" orient="horz" pos="550">
          <p15:clr>
            <a:srgbClr val="F26B43"/>
          </p15:clr>
        </p15:guide>
        <p15:guide id="8" orient="horz" pos="3992" userDrawn="1">
          <p15:clr>
            <a:srgbClr val="F26B43"/>
          </p15:clr>
        </p15:guide>
        <p15:guide id="9" orient="horz" pos="1321" userDrawn="1">
          <p15:clr>
            <a:srgbClr val="F26B43"/>
          </p15:clr>
        </p15:guide>
        <p15:guide id="10" orient="horz" pos="1502" userDrawn="1">
          <p15:clr>
            <a:srgbClr val="F26B43"/>
          </p15:clr>
        </p15:guide>
        <p15:guide id="11" pos="393" userDrawn="1">
          <p15:clr>
            <a:srgbClr val="F26B43"/>
          </p15:clr>
        </p15:guide>
        <p15:guide id="12" pos="7287" userDrawn="1">
          <p15:clr>
            <a:srgbClr val="F26B43"/>
          </p15:clr>
        </p15:guide>
        <p15:guide id="13" orient="horz" pos="1677" userDrawn="1">
          <p15:clr>
            <a:srgbClr val="F26B43"/>
          </p15:clr>
        </p15:guide>
        <p15:guide id="14" orient="horz" pos="1848" userDrawn="1">
          <p15:clr>
            <a:srgbClr val="F26B43"/>
          </p15:clr>
        </p15:guide>
        <p15:guide id="15" orient="horz" pos="3543" userDrawn="1">
          <p15:clr>
            <a:srgbClr val="F26B43"/>
          </p15:clr>
        </p15:guide>
        <p15:guide id="16" orient="horz" pos="362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1000" y="585787"/>
            <a:ext cx="11430000" cy="5686425"/>
          </a:xfrm>
          <a:prstGeom prst="rect">
            <a:avLst/>
          </a:prstGeom>
          <a:solidFill>
            <a:srgbClr val="FBFBFB"/>
          </a:solidFill>
          <a:ln>
            <a:noFill/>
          </a:ln>
          <a:effectLst>
            <a:outerShdw blurRad="254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95325" y="2831525"/>
            <a:ext cx="698933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sym typeface="Arial"/>
              </a:rPr>
              <a:t>SKIN1004 EA</a:t>
            </a:r>
            <a:r>
              <a:rPr lang="en-US" sz="3000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ST MM</a:t>
            </a:r>
            <a:r>
              <a:rPr lang="ko-KR" altLang="en-US" sz="3000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월 </a:t>
            </a:r>
            <a:r>
              <a:rPr lang="en-US" altLang="ko-KR" sz="3000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Creative Report</a:t>
            </a:r>
            <a:endParaRPr sz="3000" b="0" i="0" u="none" strike="noStrike" cap="none" dirty="0">
              <a:solidFill>
                <a:srgbClr val="0F0F0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sym typeface="Arial"/>
            </a:endParaRPr>
          </a:p>
        </p:txBody>
      </p:sp>
      <p:cxnSp>
        <p:nvCxnSpPr>
          <p:cNvPr id="27" name="Google Shape;27;p1"/>
          <p:cNvCxnSpPr>
            <a:cxnSpLocks/>
          </p:cNvCxnSpPr>
          <p:nvPr/>
        </p:nvCxnSpPr>
        <p:spPr>
          <a:xfrm>
            <a:off x="803274" y="3390900"/>
            <a:ext cx="6296773" cy="0"/>
          </a:xfrm>
          <a:prstGeom prst="straightConnector1">
            <a:avLst/>
          </a:prstGeom>
          <a:noFill/>
          <a:ln w="88900" cap="flat" cmpd="sng">
            <a:solidFill>
              <a:srgbClr val="90734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1"/>
          <p:cNvSpPr txBox="1"/>
          <p:nvPr/>
        </p:nvSpPr>
        <p:spPr>
          <a:xfrm>
            <a:off x="715243" y="3926683"/>
            <a:ext cx="3555099" cy="37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Arial"/>
              <a:buNone/>
            </a:pPr>
            <a:r>
              <a:rPr lang="en-US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YY</a:t>
            </a:r>
            <a:r>
              <a:rPr lang="en-US" sz="1400" b="0" i="0" u="none" strike="noStrike" cap="none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  <a:sym typeface="Arial"/>
              </a:rPr>
              <a:t>-MM-DD / PERFORMANCE ARCHITECT </a:t>
            </a:r>
            <a:endParaRPr dirty="0"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0724712" y="227686"/>
            <a:ext cx="1086288" cy="13041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Google Shape;28;p1">
            <a:extLst>
              <a:ext uri="{FF2B5EF4-FFF2-40B4-BE49-F238E27FC236}">
                <a16:creationId xmlns:a16="http://schemas.microsoft.com/office/drawing/2014/main" id="{72EF4122-10AC-3CED-8A95-E0386225C41A}"/>
              </a:ext>
            </a:extLst>
          </p:cNvPr>
          <p:cNvSpPr txBox="1"/>
          <p:nvPr/>
        </p:nvSpPr>
        <p:spPr>
          <a:xfrm>
            <a:off x="715243" y="3426962"/>
            <a:ext cx="3318537" cy="312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Arial"/>
              <a:buNone/>
            </a:pPr>
            <a:r>
              <a:rPr lang="ko-KR" altLang="en-US" sz="1100" b="0" i="0" u="none" strike="noStrike" cap="none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  <a:sym typeface="Arial"/>
              </a:rPr>
              <a:t>데이터 기준 </a:t>
            </a:r>
            <a:r>
              <a:rPr lang="en-US" altLang="ko-KR" sz="1100" b="0" i="0" u="none" strike="noStrike" cap="none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  <a:sym typeface="Arial"/>
              </a:rPr>
              <a:t>: MM/DD - MM/DD</a:t>
            </a:r>
            <a:endParaRPr sz="1100" dirty="0"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CE38-EAD7-9117-7B54-CF6F5BA4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40A58AB0-A623-68B3-072B-8E43F56458DB}"/>
              </a:ext>
            </a:extLst>
          </p:cNvPr>
          <p:cNvSpPr/>
          <p:nvPr/>
        </p:nvSpPr>
        <p:spPr>
          <a:xfrm>
            <a:off x="803275" y="2825614"/>
            <a:ext cx="10585449" cy="2799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DFD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B00"/>
              <a:ea typeface="AppleSDGothicNeoB00"/>
              <a:cs typeface="+mn-cs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0D42E-966D-52F6-83AB-FB235E7B670A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국가</a:t>
            </a:r>
            <a:r>
              <a:rPr lang="en-US" altLang="ko-KR" dirty="0"/>
              <a:t>)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우수 소재 </a:t>
            </a:r>
            <a:r>
              <a:rPr lang="en-US" altLang="ko-KR" dirty="0"/>
              <a:t>&lt;&gt;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저조 소재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E8AC8-9BC5-21BB-6AA0-4694FF9EE791}"/>
              </a:ext>
            </a:extLst>
          </p:cNvPr>
          <p:cNvSpPr txBox="1"/>
          <p:nvPr/>
        </p:nvSpPr>
        <p:spPr>
          <a:xfrm>
            <a:off x="803274" y="1323320"/>
            <a:ext cx="10842252" cy="824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07344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  <a:cs typeface="맑은 고딕 Semilight" panose="020B0502040204020203" pitchFamily="50" charset="-127"/>
              </a:rPr>
              <a:t>▶인사이트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07344"/>
              </a:solidFill>
              <a:latin typeface="AppleSDGothicNeoSB00" panose="02000503000000000000" pitchFamily="2" charset="-127"/>
              <a:ea typeface="AppleSDGothicNeoSB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Google Shape;422;p21">
            <a:extLst>
              <a:ext uri="{FF2B5EF4-FFF2-40B4-BE49-F238E27FC236}">
                <a16:creationId xmlns:a16="http://schemas.microsoft.com/office/drawing/2014/main" id="{D8C043E6-F77D-BCAF-D335-741D5E6122DF}"/>
              </a:ext>
            </a:extLst>
          </p:cNvPr>
          <p:cNvSpPr txBox="1"/>
          <p:nvPr/>
        </p:nvSpPr>
        <p:spPr>
          <a:xfrm>
            <a:off x="1383786" y="2661769"/>
            <a:ext cx="2403686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6C6C576B-5181-B7E7-5C45-B659B003650A}"/>
              </a:ext>
            </a:extLst>
          </p:cNvPr>
          <p:cNvGrpSpPr/>
          <p:nvPr/>
        </p:nvGrpSpPr>
        <p:grpSpPr>
          <a:xfrm>
            <a:off x="1048592" y="5699810"/>
            <a:ext cx="3074075" cy="645049"/>
            <a:chOff x="1048592" y="5699810"/>
            <a:chExt cx="3074075" cy="645049"/>
          </a:xfrm>
        </p:grpSpPr>
        <p:sp>
          <p:nvSpPr>
            <p:cNvPr id="9" name="Google Shape;422;p21">
              <a:extLst>
                <a:ext uri="{FF2B5EF4-FFF2-40B4-BE49-F238E27FC236}">
                  <a16:creationId xmlns:a16="http://schemas.microsoft.com/office/drawing/2014/main" id="{9D86969E-E461-AA47-332F-78DAF99DA0AE}"/>
                </a:ext>
              </a:extLst>
            </p:cNvPr>
            <p:cNvSpPr txBox="1"/>
            <p:nvPr/>
          </p:nvSpPr>
          <p:spPr>
            <a:xfrm>
              <a:off x="1048592" y="5699810"/>
              <a:ext cx="3074075" cy="21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  <a:endParaRPr lang="ko-KR" altLang="en-US" sz="1050" dirty="0">
                <a:solidFill>
                  <a:srgbClr val="907344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389C47-BD8A-65A3-C55B-8AA40DE05DEC}"/>
                </a:ext>
              </a:extLst>
            </p:cNvPr>
            <p:cNvSpPr txBox="1"/>
            <p:nvPr/>
          </p:nvSpPr>
          <p:spPr>
            <a:xfrm>
              <a:off x="1347952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13C213-03EA-6204-7107-9BD9DFC7BEF2}"/>
              </a:ext>
            </a:extLst>
          </p:cNvPr>
          <p:cNvSpPr/>
          <p:nvPr/>
        </p:nvSpPr>
        <p:spPr>
          <a:xfrm>
            <a:off x="1383786" y="3070453"/>
            <a:ext cx="2403687" cy="24036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995A09-11B9-E873-0207-AC2406E4E0A2}"/>
              </a:ext>
            </a:extLst>
          </p:cNvPr>
          <p:cNvSpPr/>
          <p:nvPr/>
        </p:nvSpPr>
        <p:spPr>
          <a:xfrm>
            <a:off x="8216450" y="3070453"/>
            <a:ext cx="2403687" cy="24036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8D62691-24F8-8B01-4B65-8C7717DFDD54}"/>
              </a:ext>
            </a:extLst>
          </p:cNvPr>
          <p:cNvGrpSpPr/>
          <p:nvPr/>
        </p:nvGrpSpPr>
        <p:grpSpPr>
          <a:xfrm>
            <a:off x="4558961" y="5699810"/>
            <a:ext cx="3074075" cy="645049"/>
            <a:chOff x="4257412" y="5699810"/>
            <a:chExt cx="3074075" cy="645049"/>
          </a:xfrm>
        </p:grpSpPr>
        <p:sp>
          <p:nvSpPr>
            <p:cNvPr id="54" name="Google Shape;422;p21">
              <a:extLst>
                <a:ext uri="{FF2B5EF4-FFF2-40B4-BE49-F238E27FC236}">
                  <a16:creationId xmlns:a16="http://schemas.microsoft.com/office/drawing/2014/main" id="{5F69AAEB-1FDA-81D9-252C-0BA9096E5713}"/>
                </a:ext>
              </a:extLst>
            </p:cNvPr>
            <p:cNvSpPr txBox="1"/>
            <p:nvPr/>
          </p:nvSpPr>
          <p:spPr>
            <a:xfrm>
              <a:off x="4257412" y="5699810"/>
              <a:ext cx="3074075" cy="21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  <a:endParaRPr lang="ko-KR" altLang="en-US" sz="1050" dirty="0">
                <a:solidFill>
                  <a:srgbClr val="907344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C84DF57-A469-3E0C-8FBE-23A5A26C420B}"/>
                </a:ext>
              </a:extLst>
            </p:cNvPr>
            <p:cNvSpPr txBox="1"/>
            <p:nvPr/>
          </p:nvSpPr>
          <p:spPr>
            <a:xfrm>
              <a:off x="4556772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E9DA7D7-1BC5-8B7D-6AA6-46B46E2C3CA0}"/>
              </a:ext>
            </a:extLst>
          </p:cNvPr>
          <p:cNvGrpSpPr/>
          <p:nvPr/>
        </p:nvGrpSpPr>
        <p:grpSpPr>
          <a:xfrm>
            <a:off x="7881256" y="5699810"/>
            <a:ext cx="3074075" cy="645049"/>
            <a:chOff x="7881256" y="5699810"/>
            <a:chExt cx="3074075" cy="645049"/>
          </a:xfrm>
        </p:grpSpPr>
        <p:sp>
          <p:nvSpPr>
            <p:cNvPr id="64" name="Google Shape;422;p21">
              <a:extLst>
                <a:ext uri="{FF2B5EF4-FFF2-40B4-BE49-F238E27FC236}">
                  <a16:creationId xmlns:a16="http://schemas.microsoft.com/office/drawing/2014/main" id="{172FF212-6E86-8EC8-5FC3-E1A2574F608C}"/>
                </a:ext>
              </a:extLst>
            </p:cNvPr>
            <p:cNvSpPr txBox="1"/>
            <p:nvPr/>
          </p:nvSpPr>
          <p:spPr>
            <a:xfrm>
              <a:off x="7881256" y="5699810"/>
              <a:ext cx="3074075" cy="21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  <a:endParaRPr lang="ko-KR" altLang="en-US" sz="1050" dirty="0">
                <a:solidFill>
                  <a:srgbClr val="907344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685D6A-06FF-26A0-93E6-1D7A13F473E5}"/>
                </a:ext>
              </a:extLst>
            </p:cNvPr>
            <p:cNvSpPr txBox="1"/>
            <p:nvPr/>
          </p:nvSpPr>
          <p:spPr>
            <a:xfrm>
              <a:off x="8180616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FBE24F-559A-E1C0-5D25-022A7D699ED5}"/>
              </a:ext>
            </a:extLst>
          </p:cNvPr>
          <p:cNvSpPr/>
          <p:nvPr/>
        </p:nvSpPr>
        <p:spPr>
          <a:xfrm>
            <a:off x="4894155" y="3070453"/>
            <a:ext cx="2403687" cy="24036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4" name="Google Shape;422;p21">
            <a:extLst>
              <a:ext uri="{FF2B5EF4-FFF2-40B4-BE49-F238E27FC236}">
                <a16:creationId xmlns:a16="http://schemas.microsoft.com/office/drawing/2014/main" id="{C19F662E-728B-3D9C-B7F3-E787E46FA1A1}"/>
              </a:ext>
            </a:extLst>
          </p:cNvPr>
          <p:cNvSpPr txBox="1"/>
          <p:nvPr/>
        </p:nvSpPr>
        <p:spPr>
          <a:xfrm>
            <a:off x="4894155" y="2660623"/>
            <a:ext cx="2403686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5" name="Google Shape;422;p21">
            <a:extLst>
              <a:ext uri="{FF2B5EF4-FFF2-40B4-BE49-F238E27FC236}">
                <a16:creationId xmlns:a16="http://schemas.microsoft.com/office/drawing/2014/main" id="{4FF9F873-9A0D-174F-C969-FF99A9E43168}"/>
              </a:ext>
            </a:extLst>
          </p:cNvPr>
          <p:cNvSpPr txBox="1"/>
          <p:nvPr/>
        </p:nvSpPr>
        <p:spPr>
          <a:xfrm>
            <a:off x="8216450" y="2660623"/>
            <a:ext cx="2403686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681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CEAFE-AB16-782E-EABB-79420110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4D9E3EE7-0F5E-2F43-D77A-285CF1F1D1A3}"/>
              </a:ext>
            </a:extLst>
          </p:cNvPr>
          <p:cNvSpPr/>
          <p:nvPr/>
        </p:nvSpPr>
        <p:spPr>
          <a:xfrm>
            <a:off x="623887" y="2825614"/>
            <a:ext cx="10944225" cy="2799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DFD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B00"/>
              <a:ea typeface="AppleSDGothicNeoB00"/>
              <a:cs typeface="+mn-cs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F306F-EDF5-01E8-001F-7DC8A1B4585F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국가</a:t>
            </a:r>
            <a:r>
              <a:rPr lang="en-US" altLang="ko-KR" dirty="0"/>
              <a:t>)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우수 소재 </a:t>
            </a:r>
            <a:r>
              <a:rPr lang="en-US" altLang="ko-KR" dirty="0"/>
              <a:t>&lt;&gt;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저조 소재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0C332-235E-1C49-317A-A6FF8EDB579B}"/>
              </a:ext>
            </a:extLst>
          </p:cNvPr>
          <p:cNvSpPr txBox="1"/>
          <p:nvPr/>
        </p:nvSpPr>
        <p:spPr>
          <a:xfrm>
            <a:off x="803274" y="1323320"/>
            <a:ext cx="10842252" cy="11041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07344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  <a:cs typeface="맑은 고딕 Semilight" panose="020B0502040204020203" pitchFamily="50" charset="-127"/>
              </a:rPr>
              <a:t>▶인사이트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07344"/>
              </a:solidFill>
              <a:latin typeface="AppleSDGothicNeoSB00" panose="02000503000000000000" pitchFamily="2" charset="-127"/>
              <a:ea typeface="AppleSDGothicNeoSB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Google Shape;422;p21">
            <a:extLst>
              <a:ext uri="{FF2B5EF4-FFF2-40B4-BE49-F238E27FC236}">
                <a16:creationId xmlns:a16="http://schemas.microsoft.com/office/drawing/2014/main" id="{6DA2C654-5711-4883-25B5-2901D801EC5E}"/>
              </a:ext>
            </a:extLst>
          </p:cNvPr>
          <p:cNvSpPr txBox="1"/>
          <p:nvPr/>
        </p:nvSpPr>
        <p:spPr>
          <a:xfrm>
            <a:off x="1045906" y="2661769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E73060-B8F7-911F-ED28-CC4AD79BA172}"/>
              </a:ext>
            </a:extLst>
          </p:cNvPr>
          <p:cNvSpPr/>
          <p:nvPr/>
        </p:nvSpPr>
        <p:spPr>
          <a:xfrm>
            <a:off x="1045906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3768458-FEB6-A0B9-71D7-97C5A3AA8705}"/>
              </a:ext>
            </a:extLst>
          </p:cNvPr>
          <p:cNvGrpSpPr/>
          <p:nvPr/>
        </p:nvGrpSpPr>
        <p:grpSpPr>
          <a:xfrm>
            <a:off x="868212" y="5708498"/>
            <a:ext cx="2540558" cy="636361"/>
            <a:chOff x="647391" y="5708498"/>
            <a:chExt cx="2540558" cy="636361"/>
          </a:xfrm>
        </p:grpSpPr>
        <p:sp>
          <p:nvSpPr>
            <p:cNvPr id="9" name="Google Shape;422;p21">
              <a:extLst>
                <a:ext uri="{FF2B5EF4-FFF2-40B4-BE49-F238E27FC236}">
                  <a16:creationId xmlns:a16="http://schemas.microsoft.com/office/drawing/2014/main" id="{9595C674-D73B-24AE-6AA2-058BD3D20287}"/>
                </a:ext>
              </a:extLst>
            </p:cNvPr>
            <p:cNvSpPr txBox="1"/>
            <p:nvPr/>
          </p:nvSpPr>
          <p:spPr>
            <a:xfrm>
              <a:off x="647391" y="5708498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295538-287D-615C-B2DE-C2E282C36A8C}"/>
                </a:ext>
              </a:extLst>
            </p:cNvPr>
            <p:cNvSpPr txBox="1"/>
            <p:nvPr/>
          </p:nvSpPr>
          <p:spPr>
            <a:xfrm>
              <a:off x="679993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9E6B3A-F8BE-648F-7D6C-8A9C48FA4EAF}"/>
              </a:ext>
            </a:extLst>
          </p:cNvPr>
          <p:cNvSpPr/>
          <p:nvPr/>
        </p:nvSpPr>
        <p:spPr>
          <a:xfrm>
            <a:off x="3682829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0B5E546-535F-9227-93C7-472428BB8188}"/>
              </a:ext>
            </a:extLst>
          </p:cNvPr>
          <p:cNvGrpSpPr/>
          <p:nvPr/>
        </p:nvGrpSpPr>
        <p:grpSpPr>
          <a:xfrm>
            <a:off x="3505135" y="5716152"/>
            <a:ext cx="2540558" cy="628707"/>
            <a:chOff x="3183700" y="5716152"/>
            <a:chExt cx="2540558" cy="628707"/>
          </a:xfrm>
        </p:grpSpPr>
        <p:sp>
          <p:nvSpPr>
            <p:cNvPr id="18" name="Google Shape;422;p21">
              <a:extLst>
                <a:ext uri="{FF2B5EF4-FFF2-40B4-BE49-F238E27FC236}">
                  <a16:creationId xmlns:a16="http://schemas.microsoft.com/office/drawing/2014/main" id="{5696D46E-7336-9F53-FE77-D48F418B2855}"/>
                </a:ext>
              </a:extLst>
            </p:cNvPr>
            <p:cNvSpPr txBox="1"/>
            <p:nvPr/>
          </p:nvSpPr>
          <p:spPr>
            <a:xfrm>
              <a:off x="3183700" y="5716152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241C84-3BBD-8ED0-632A-25C214E83A8A}"/>
                </a:ext>
              </a:extLst>
            </p:cNvPr>
            <p:cNvSpPr txBox="1"/>
            <p:nvPr/>
          </p:nvSpPr>
          <p:spPr>
            <a:xfrm>
              <a:off x="3216302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4" name="Google Shape;422;p21">
            <a:extLst>
              <a:ext uri="{FF2B5EF4-FFF2-40B4-BE49-F238E27FC236}">
                <a16:creationId xmlns:a16="http://schemas.microsoft.com/office/drawing/2014/main" id="{F366F5F0-EBCB-D5B6-8616-7566B1B53FCC}"/>
              </a:ext>
            </a:extLst>
          </p:cNvPr>
          <p:cNvSpPr txBox="1"/>
          <p:nvPr/>
        </p:nvSpPr>
        <p:spPr>
          <a:xfrm>
            <a:off x="3682829" y="2661768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6585E6-A732-D5FA-7E56-09687BFB0A4D}"/>
              </a:ext>
            </a:extLst>
          </p:cNvPr>
          <p:cNvSpPr/>
          <p:nvPr/>
        </p:nvSpPr>
        <p:spPr>
          <a:xfrm>
            <a:off x="6319752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4937CF4-2228-5D9D-F73F-5B78306B49EF}"/>
              </a:ext>
            </a:extLst>
          </p:cNvPr>
          <p:cNvGrpSpPr/>
          <p:nvPr/>
        </p:nvGrpSpPr>
        <p:grpSpPr>
          <a:xfrm>
            <a:off x="6142058" y="5708498"/>
            <a:ext cx="2540558" cy="636361"/>
            <a:chOff x="5722966" y="5708498"/>
            <a:chExt cx="2540558" cy="636361"/>
          </a:xfrm>
        </p:grpSpPr>
        <p:sp>
          <p:nvSpPr>
            <p:cNvPr id="21" name="Google Shape;422;p21">
              <a:extLst>
                <a:ext uri="{FF2B5EF4-FFF2-40B4-BE49-F238E27FC236}">
                  <a16:creationId xmlns:a16="http://schemas.microsoft.com/office/drawing/2014/main" id="{233BE140-3995-846F-2442-928ABBF88BB5}"/>
                </a:ext>
              </a:extLst>
            </p:cNvPr>
            <p:cNvSpPr txBox="1"/>
            <p:nvPr/>
          </p:nvSpPr>
          <p:spPr>
            <a:xfrm>
              <a:off x="5722966" y="5708498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F4E472-C812-DA78-E05D-4B3EB0CDF8EE}"/>
                </a:ext>
              </a:extLst>
            </p:cNvPr>
            <p:cNvSpPr txBox="1"/>
            <p:nvPr/>
          </p:nvSpPr>
          <p:spPr>
            <a:xfrm>
              <a:off x="5755568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5" name="Google Shape;422;p21">
            <a:extLst>
              <a:ext uri="{FF2B5EF4-FFF2-40B4-BE49-F238E27FC236}">
                <a16:creationId xmlns:a16="http://schemas.microsoft.com/office/drawing/2014/main" id="{F825C182-2107-CB0C-5145-4E79E23FB619}"/>
              </a:ext>
            </a:extLst>
          </p:cNvPr>
          <p:cNvSpPr txBox="1"/>
          <p:nvPr/>
        </p:nvSpPr>
        <p:spPr>
          <a:xfrm>
            <a:off x="6319752" y="2661767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D5DBE64-4B0D-5BDE-9512-237E8A4ED923}"/>
              </a:ext>
            </a:extLst>
          </p:cNvPr>
          <p:cNvGrpSpPr/>
          <p:nvPr/>
        </p:nvGrpSpPr>
        <p:grpSpPr>
          <a:xfrm>
            <a:off x="8778981" y="5724859"/>
            <a:ext cx="2540558" cy="620000"/>
            <a:chOff x="8684711" y="5724859"/>
            <a:chExt cx="2540558" cy="620000"/>
          </a:xfrm>
        </p:grpSpPr>
        <p:sp>
          <p:nvSpPr>
            <p:cNvPr id="24" name="Google Shape;422;p21">
              <a:extLst>
                <a:ext uri="{FF2B5EF4-FFF2-40B4-BE49-F238E27FC236}">
                  <a16:creationId xmlns:a16="http://schemas.microsoft.com/office/drawing/2014/main" id="{39333120-78CE-F7FF-A444-D86563AF70BD}"/>
                </a:ext>
              </a:extLst>
            </p:cNvPr>
            <p:cNvSpPr txBox="1"/>
            <p:nvPr/>
          </p:nvSpPr>
          <p:spPr>
            <a:xfrm>
              <a:off x="8684711" y="5724859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E2DD3F-9BF1-F593-ABB8-8EBD073EFDBD}"/>
                </a:ext>
              </a:extLst>
            </p:cNvPr>
            <p:cNvSpPr txBox="1"/>
            <p:nvPr/>
          </p:nvSpPr>
          <p:spPr>
            <a:xfrm>
              <a:off x="8717313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FA54A3-1A2E-B618-2C99-FFD722B6DC15}"/>
              </a:ext>
            </a:extLst>
          </p:cNvPr>
          <p:cNvSpPr/>
          <p:nvPr/>
        </p:nvSpPr>
        <p:spPr>
          <a:xfrm>
            <a:off x="8956675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10" name="Google Shape;422;p21">
            <a:extLst>
              <a:ext uri="{FF2B5EF4-FFF2-40B4-BE49-F238E27FC236}">
                <a16:creationId xmlns:a16="http://schemas.microsoft.com/office/drawing/2014/main" id="{DB3396EF-F9B1-ABFE-503B-23F3A354251C}"/>
              </a:ext>
            </a:extLst>
          </p:cNvPr>
          <p:cNvSpPr txBox="1"/>
          <p:nvPr/>
        </p:nvSpPr>
        <p:spPr>
          <a:xfrm>
            <a:off x="8956675" y="2661767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63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7A4B-1346-EB62-5E92-5CD086FB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BCBE3-C483-13FE-D57B-673A412DC063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국가</a:t>
            </a:r>
            <a:r>
              <a:rPr lang="en-US" altLang="ko-KR" dirty="0"/>
              <a:t>)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우수 소재 </a:t>
            </a:r>
            <a:r>
              <a:rPr lang="en-US" altLang="ko-KR" dirty="0"/>
              <a:t>&lt;&gt;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저조 소재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546E-8B33-1EAE-21F6-4D36B9DB9030}"/>
              </a:ext>
            </a:extLst>
          </p:cNvPr>
          <p:cNvSpPr txBox="1"/>
          <p:nvPr/>
        </p:nvSpPr>
        <p:spPr>
          <a:xfrm>
            <a:off x="803274" y="1323320"/>
            <a:ext cx="10842252" cy="11041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07344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  <a:cs typeface="맑은 고딕 Semilight" panose="020B0502040204020203" pitchFamily="50" charset="-127"/>
              </a:rPr>
              <a:t>▶인사이트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07344"/>
              </a:solidFill>
              <a:latin typeface="AppleSDGothicNeoSB00" panose="02000503000000000000" pitchFamily="2" charset="-127"/>
              <a:ea typeface="AppleSDGothicNeoSB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AFB9791E-34A6-FEE3-F43C-481309A02D44}"/>
              </a:ext>
            </a:extLst>
          </p:cNvPr>
          <p:cNvSpPr/>
          <p:nvPr/>
        </p:nvSpPr>
        <p:spPr>
          <a:xfrm>
            <a:off x="623887" y="2825614"/>
            <a:ext cx="10944225" cy="2799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DFD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B00"/>
              <a:ea typeface="AppleSDGothicNeoB00"/>
              <a:cs typeface="+mn-cs"/>
              <a:sym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8C3F8F-6A13-7A60-8B66-EA75884AF8C6}"/>
              </a:ext>
            </a:extLst>
          </p:cNvPr>
          <p:cNvSpPr/>
          <p:nvPr/>
        </p:nvSpPr>
        <p:spPr>
          <a:xfrm>
            <a:off x="299018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F7A4D4D-5247-1D7F-D19F-D8A3A73FC3CA}"/>
              </a:ext>
            </a:extLst>
          </p:cNvPr>
          <p:cNvGrpSpPr/>
          <p:nvPr/>
        </p:nvGrpSpPr>
        <p:grpSpPr>
          <a:xfrm>
            <a:off x="2718718" y="5716679"/>
            <a:ext cx="2475354" cy="750730"/>
            <a:chOff x="2689448" y="5716679"/>
            <a:chExt cx="2475354" cy="750730"/>
          </a:xfrm>
        </p:grpSpPr>
        <p:sp>
          <p:nvSpPr>
            <p:cNvPr id="19" name="Google Shape;422;p21">
              <a:extLst>
                <a:ext uri="{FF2B5EF4-FFF2-40B4-BE49-F238E27FC236}">
                  <a16:creationId xmlns:a16="http://schemas.microsoft.com/office/drawing/2014/main" id="{29C4C5FA-4287-C592-66A3-3C628512C80E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E36609-56F6-9D33-C605-2CEAE1DA10B4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17" name="Google Shape;422;p21">
            <a:extLst>
              <a:ext uri="{FF2B5EF4-FFF2-40B4-BE49-F238E27FC236}">
                <a16:creationId xmlns:a16="http://schemas.microsoft.com/office/drawing/2014/main" id="{F65FFB81-59DC-B119-4227-658A25E74CBC}"/>
              </a:ext>
            </a:extLst>
          </p:cNvPr>
          <p:cNvSpPr txBox="1"/>
          <p:nvPr/>
        </p:nvSpPr>
        <p:spPr>
          <a:xfrm>
            <a:off x="2993747" y="2660490"/>
            <a:ext cx="1925294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0DDB860-E080-83DC-3D26-35DFF79CE30A}"/>
              </a:ext>
            </a:extLst>
          </p:cNvPr>
          <p:cNvGrpSpPr/>
          <p:nvPr/>
        </p:nvGrpSpPr>
        <p:grpSpPr>
          <a:xfrm>
            <a:off x="580898" y="5716679"/>
            <a:ext cx="2475354" cy="750730"/>
            <a:chOff x="515071" y="5716679"/>
            <a:chExt cx="2475354" cy="750730"/>
          </a:xfrm>
        </p:grpSpPr>
        <p:sp>
          <p:nvSpPr>
            <p:cNvPr id="9" name="Google Shape;422;p21">
              <a:extLst>
                <a:ext uri="{FF2B5EF4-FFF2-40B4-BE49-F238E27FC236}">
                  <a16:creationId xmlns:a16="http://schemas.microsoft.com/office/drawing/2014/main" id="{DF923D8B-2166-A9EA-C3A5-9D8F5EA09F08}"/>
                </a:ext>
              </a:extLst>
            </p:cNvPr>
            <p:cNvSpPr txBox="1"/>
            <p:nvPr/>
          </p:nvSpPr>
          <p:spPr>
            <a:xfrm>
              <a:off x="702931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A61BF8-C3A5-54EE-1803-EDFF89540E74}"/>
                </a:ext>
              </a:extLst>
            </p:cNvPr>
            <p:cNvSpPr txBox="1"/>
            <p:nvPr/>
          </p:nvSpPr>
          <p:spPr>
            <a:xfrm>
              <a:off x="515071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93CBBA-EEE3-F04A-1F15-9B69888B3D84}"/>
              </a:ext>
            </a:extLst>
          </p:cNvPr>
          <p:cNvSpPr/>
          <p:nvPr/>
        </p:nvSpPr>
        <p:spPr>
          <a:xfrm>
            <a:off x="85236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18" name="Google Shape;422;p21">
            <a:extLst>
              <a:ext uri="{FF2B5EF4-FFF2-40B4-BE49-F238E27FC236}">
                <a16:creationId xmlns:a16="http://schemas.microsoft.com/office/drawing/2014/main" id="{930D74AC-EF32-E076-5308-06ECAED4D40D}"/>
              </a:ext>
            </a:extLst>
          </p:cNvPr>
          <p:cNvSpPr txBox="1"/>
          <p:nvPr/>
        </p:nvSpPr>
        <p:spPr>
          <a:xfrm>
            <a:off x="852362" y="2660490"/>
            <a:ext cx="1935992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8BD542-E765-8D06-60A8-D64C27133406}"/>
              </a:ext>
            </a:extLst>
          </p:cNvPr>
          <p:cNvSpPr/>
          <p:nvPr/>
        </p:nvSpPr>
        <p:spPr>
          <a:xfrm>
            <a:off x="726582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0C45443-2A44-F616-CB46-8C7A32A068FF}"/>
              </a:ext>
            </a:extLst>
          </p:cNvPr>
          <p:cNvGrpSpPr/>
          <p:nvPr/>
        </p:nvGrpSpPr>
        <p:grpSpPr>
          <a:xfrm>
            <a:off x="6994358" y="5716679"/>
            <a:ext cx="2475354" cy="750730"/>
            <a:chOff x="2689448" y="5716679"/>
            <a:chExt cx="2475354" cy="750730"/>
          </a:xfrm>
        </p:grpSpPr>
        <p:sp>
          <p:nvSpPr>
            <p:cNvPr id="28" name="Google Shape;422;p21">
              <a:extLst>
                <a:ext uri="{FF2B5EF4-FFF2-40B4-BE49-F238E27FC236}">
                  <a16:creationId xmlns:a16="http://schemas.microsoft.com/office/drawing/2014/main" id="{25F373A4-E11D-35CA-C721-3E904A5F3778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F6CC62-579A-1A3A-C315-9EF36A693CFA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21" name="Google Shape;422;p21">
            <a:extLst>
              <a:ext uri="{FF2B5EF4-FFF2-40B4-BE49-F238E27FC236}">
                <a16:creationId xmlns:a16="http://schemas.microsoft.com/office/drawing/2014/main" id="{B92A9B66-88E3-08FF-AC36-124D5806EE38}"/>
              </a:ext>
            </a:extLst>
          </p:cNvPr>
          <p:cNvSpPr txBox="1"/>
          <p:nvPr/>
        </p:nvSpPr>
        <p:spPr>
          <a:xfrm>
            <a:off x="7269387" y="2660490"/>
            <a:ext cx="1932428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E1868D-FF83-F4F8-1F48-62FADE02F780}"/>
              </a:ext>
            </a:extLst>
          </p:cNvPr>
          <p:cNvSpPr/>
          <p:nvPr/>
        </p:nvSpPr>
        <p:spPr>
          <a:xfrm>
            <a:off x="512800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37D0F4C-C339-A0CD-828E-DCD67F502625}"/>
              </a:ext>
            </a:extLst>
          </p:cNvPr>
          <p:cNvGrpSpPr/>
          <p:nvPr/>
        </p:nvGrpSpPr>
        <p:grpSpPr>
          <a:xfrm>
            <a:off x="4856538" y="5716679"/>
            <a:ext cx="2475354" cy="750730"/>
            <a:chOff x="2689448" y="5716679"/>
            <a:chExt cx="2475354" cy="750730"/>
          </a:xfrm>
        </p:grpSpPr>
        <p:sp>
          <p:nvSpPr>
            <p:cNvPr id="25" name="Google Shape;422;p21">
              <a:extLst>
                <a:ext uri="{FF2B5EF4-FFF2-40B4-BE49-F238E27FC236}">
                  <a16:creationId xmlns:a16="http://schemas.microsoft.com/office/drawing/2014/main" id="{2535FEF8-13A9-FB13-410E-82EDEB56A61D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C26DAE-3BED-C9C0-4E8B-4B4B8A40D99E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24" name="Google Shape;422;p21">
            <a:extLst>
              <a:ext uri="{FF2B5EF4-FFF2-40B4-BE49-F238E27FC236}">
                <a16:creationId xmlns:a16="http://schemas.microsoft.com/office/drawing/2014/main" id="{4139C943-2736-3C7C-AE43-2EC1C3770831}"/>
              </a:ext>
            </a:extLst>
          </p:cNvPr>
          <p:cNvSpPr txBox="1"/>
          <p:nvPr/>
        </p:nvSpPr>
        <p:spPr>
          <a:xfrm>
            <a:off x="5131565" y="2660490"/>
            <a:ext cx="1932429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0F59BC-CA79-081E-30AE-D7EFFA1ECF52}"/>
              </a:ext>
            </a:extLst>
          </p:cNvPr>
          <p:cNvSpPr/>
          <p:nvPr/>
        </p:nvSpPr>
        <p:spPr>
          <a:xfrm>
            <a:off x="940364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03B14FF-8A31-4D23-E026-3FAC0F57D02D}"/>
              </a:ext>
            </a:extLst>
          </p:cNvPr>
          <p:cNvGrpSpPr/>
          <p:nvPr/>
        </p:nvGrpSpPr>
        <p:grpSpPr>
          <a:xfrm>
            <a:off x="9132178" y="5716679"/>
            <a:ext cx="2475354" cy="750730"/>
            <a:chOff x="2689448" y="5716679"/>
            <a:chExt cx="2475354" cy="750730"/>
          </a:xfrm>
        </p:grpSpPr>
        <p:sp>
          <p:nvSpPr>
            <p:cNvPr id="40" name="Google Shape;422;p21">
              <a:extLst>
                <a:ext uri="{FF2B5EF4-FFF2-40B4-BE49-F238E27FC236}">
                  <a16:creationId xmlns:a16="http://schemas.microsoft.com/office/drawing/2014/main" id="{9D5A7394-AC7B-C0EE-33D5-9FE6C86D7A0F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FEB7E6D-E585-4EFA-F2CE-247CC397F960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31" name="Google Shape;422;p21">
            <a:extLst>
              <a:ext uri="{FF2B5EF4-FFF2-40B4-BE49-F238E27FC236}">
                <a16:creationId xmlns:a16="http://schemas.microsoft.com/office/drawing/2014/main" id="{22D1E75C-3946-415D-FD80-3773F02AF388}"/>
              </a:ext>
            </a:extLst>
          </p:cNvPr>
          <p:cNvSpPr txBox="1"/>
          <p:nvPr/>
        </p:nvSpPr>
        <p:spPr>
          <a:xfrm>
            <a:off x="9407207" y="2660490"/>
            <a:ext cx="1932427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EFCCD4C-D2C5-AB53-1170-EB8393CAD420}"/>
              </a:ext>
            </a:extLst>
          </p:cNvPr>
          <p:cNvSpPr/>
          <p:nvPr/>
        </p:nvSpPr>
        <p:spPr>
          <a:xfrm>
            <a:off x="8326805" y="1402923"/>
            <a:ext cx="3061921" cy="9449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자리가 없을 경우</a:t>
            </a:r>
            <a:r>
              <a:rPr lang="en-US" altLang="ko-KR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, </a:t>
            </a:r>
          </a:p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배경 박스 삭제하는 방향으로 위치 조절</a:t>
            </a:r>
          </a:p>
        </p:txBody>
      </p:sp>
    </p:spTree>
    <p:extLst>
      <p:ext uri="{BB962C8B-B14F-4D97-AF65-F5344CB8AC3E}">
        <p14:creationId xmlns:p14="http://schemas.microsoft.com/office/powerpoint/2010/main" val="100487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6F6AD118-93A8-4991-526D-D27C6977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252DABCE-8794-CCBF-E0E8-59BC4A48F1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buClrTx/>
            </a:pPr>
            <a:endParaRPr sz="1800" kern="1200">
              <a:solidFill>
                <a:prstClr val="white"/>
              </a:solidFill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1A5AC149-174C-D582-1DDA-7B22548FF906}"/>
              </a:ext>
            </a:extLst>
          </p:cNvPr>
          <p:cNvSpPr txBox="1"/>
          <p:nvPr/>
        </p:nvSpPr>
        <p:spPr>
          <a:xfrm>
            <a:off x="5873032" y="3228945"/>
            <a:ext cx="4459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sym typeface="Arial"/>
              </a:rPr>
              <a:t>ID</a:t>
            </a:r>
            <a:endParaRPr dirty="0">
              <a:solidFill>
                <a:schemeClr val="bg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61" name="Google Shape;61;p4">
            <a:extLst>
              <a:ext uri="{FF2B5EF4-FFF2-40B4-BE49-F238E27FC236}">
                <a16:creationId xmlns:a16="http://schemas.microsoft.com/office/drawing/2014/main" id="{BEAE123C-F576-15CE-A69D-1F9B9DC97E99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62" name="Google Shape;62;p4">
              <a:extLst>
                <a:ext uri="{FF2B5EF4-FFF2-40B4-BE49-F238E27FC236}">
                  <a16:creationId xmlns:a16="http://schemas.microsoft.com/office/drawing/2014/main" id="{07BE7396-A097-D2CD-7435-0BB35DA5CA7A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>
              <a:extLst>
                <a:ext uri="{FF2B5EF4-FFF2-40B4-BE49-F238E27FC236}">
                  <a16:creationId xmlns:a16="http://schemas.microsoft.com/office/drawing/2014/main" id="{9F083A20-533E-0E7D-2FB1-6A4E2D20FDA5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81276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754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3744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4AFC0BC7-574A-52F3-8F10-ACB1E260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D5724388-48D4-3707-8CD7-820C564EC2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  <a:sym typeface="Arial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A8A0C652-49E2-7124-2D13-E446AF7F4313}"/>
              </a:ext>
            </a:extLst>
          </p:cNvPr>
          <p:cNvSpPr txBox="1"/>
          <p:nvPr/>
        </p:nvSpPr>
        <p:spPr>
          <a:xfrm>
            <a:off x="5769548" y="3228945"/>
            <a:ext cx="6529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MY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61" name="Google Shape;61;p4">
            <a:extLst>
              <a:ext uri="{FF2B5EF4-FFF2-40B4-BE49-F238E27FC236}">
                <a16:creationId xmlns:a16="http://schemas.microsoft.com/office/drawing/2014/main" id="{F37F76AB-36E8-250C-36EC-C110AE879B6B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62" name="Google Shape;62;p4">
              <a:extLst>
                <a:ext uri="{FF2B5EF4-FFF2-40B4-BE49-F238E27FC236}">
                  <a16:creationId xmlns:a16="http://schemas.microsoft.com/office/drawing/2014/main" id="{67EC539F-1E87-0755-6159-BE180C34D78A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>
              <a:extLst>
                <a:ext uri="{FF2B5EF4-FFF2-40B4-BE49-F238E27FC236}">
                  <a16:creationId xmlns:a16="http://schemas.microsoft.com/office/drawing/2014/main" id="{FD4E2A5B-82CA-0945-C66B-1FA3A40D0B82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5259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3AAA-2EC4-1786-DFE5-DE0DC4C6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BE3DA3-C91B-E959-252B-996F299280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EFC08-D850-9507-E00C-201F2E3756FC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370FE3-AD03-E293-9291-F7E9737DE7A6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ED7CB8B-14C3-D556-B0C1-AECA49F84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CEAE043-30E3-DA8E-0792-6B2D4C673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1773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C9FA-F86E-F97C-6F13-D2F16FA2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FE08BC-4D54-ED22-2667-83F36545ED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F7AF9-BBA1-96A1-D922-2C464B2EDF9F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724D7C-19F4-D554-676F-08F4F00A1B4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845AE52-4979-0582-3662-4FF119384C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C9F4B27-D8EF-8E16-FA32-C059FE036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9149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95474E0-D4B8-A40E-1D3A-83CAAA6F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9;p4">
            <a:extLst>
              <a:ext uri="{FF2B5EF4-FFF2-40B4-BE49-F238E27FC236}">
                <a16:creationId xmlns:a16="http://schemas.microsoft.com/office/drawing/2014/main" id="{85158197-7F19-1157-7558-E5EA98C836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buClrTx/>
            </a:pPr>
            <a:endParaRPr sz="1800" kern="1200">
              <a:solidFill>
                <a:prstClr val="white"/>
              </a:solidFill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3" name="Google Shape;60;p4">
            <a:extLst>
              <a:ext uri="{FF2B5EF4-FFF2-40B4-BE49-F238E27FC236}">
                <a16:creationId xmlns:a16="http://schemas.microsoft.com/office/drawing/2014/main" id="{0201CA92-F96B-1BE1-277F-891D0356CDE5}"/>
              </a:ext>
            </a:extLst>
          </p:cNvPr>
          <p:cNvSpPr txBox="1"/>
          <p:nvPr/>
        </p:nvSpPr>
        <p:spPr>
          <a:xfrm>
            <a:off x="5799226" y="3228945"/>
            <a:ext cx="59356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PH</a:t>
            </a:r>
            <a:endParaRPr sz="2000" dirty="0">
              <a:solidFill>
                <a:schemeClr val="bg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4" name="Google Shape;61;p4">
            <a:extLst>
              <a:ext uri="{FF2B5EF4-FFF2-40B4-BE49-F238E27FC236}">
                <a16:creationId xmlns:a16="http://schemas.microsoft.com/office/drawing/2014/main" id="{F31E60ED-EAE9-ECFE-7D7A-7A01935491A8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5" name="Google Shape;62;p4">
              <a:extLst>
                <a:ext uri="{FF2B5EF4-FFF2-40B4-BE49-F238E27FC236}">
                  <a16:creationId xmlns:a16="http://schemas.microsoft.com/office/drawing/2014/main" id="{66DC58F4-2C79-6B23-2279-D4427DA38082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63;p4">
              <a:extLst>
                <a:ext uri="{FF2B5EF4-FFF2-40B4-BE49-F238E27FC236}">
                  <a16:creationId xmlns:a16="http://schemas.microsoft.com/office/drawing/2014/main" id="{58BE5838-E13D-06D7-2918-3001F7B8D332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536455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0057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183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9D7D75D9-0C9C-6116-9583-62AF115F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C07F767A-7207-A08A-6F18-944CFB5E8F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buClrTx/>
            </a:pPr>
            <a:endParaRPr sz="1800" kern="1200">
              <a:solidFill>
                <a:prstClr val="white"/>
              </a:solidFill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E69C8FCB-4A70-78A4-D3AE-630F4BDCD4E7}"/>
              </a:ext>
            </a:extLst>
          </p:cNvPr>
          <p:cNvSpPr txBox="1"/>
          <p:nvPr/>
        </p:nvSpPr>
        <p:spPr>
          <a:xfrm>
            <a:off x="5769548" y="3228945"/>
            <a:ext cx="6529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sym typeface="Arial"/>
              </a:rPr>
              <a:t>SG</a:t>
            </a:r>
            <a:endParaRPr lang="en-US" dirty="0">
              <a:solidFill>
                <a:schemeClr val="bg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61" name="Google Shape;61;p4">
            <a:extLst>
              <a:ext uri="{FF2B5EF4-FFF2-40B4-BE49-F238E27FC236}">
                <a16:creationId xmlns:a16="http://schemas.microsoft.com/office/drawing/2014/main" id="{91094DF5-D3DD-3CE0-EBDB-D6AEE0E4B685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62" name="Google Shape;62;p4">
              <a:extLst>
                <a:ext uri="{FF2B5EF4-FFF2-40B4-BE49-F238E27FC236}">
                  <a16:creationId xmlns:a16="http://schemas.microsoft.com/office/drawing/2014/main" id="{FB1DB39C-D8F9-887B-6D97-BA18789141FE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>
              <a:extLst>
                <a:ext uri="{FF2B5EF4-FFF2-40B4-BE49-F238E27FC236}">
                  <a16:creationId xmlns:a16="http://schemas.microsoft.com/office/drawing/2014/main" id="{9279AE92-4977-B885-15F1-4740634A56AD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6273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7E90-D73A-0EA2-9E4D-212D02E1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094940-C507-D2D2-B579-D614C89E76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F142B8-49B2-3F27-573A-242D48CFE157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0EE36A-4DD3-AAC5-FED1-1E54F52267F4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6501926-6E8D-EF69-C837-8D0F1372F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AFC8951-BEA9-36AA-0817-91B720AB5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847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CDFD-73B9-23C9-FF36-1B1C4141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E951AD-F7C1-3BDF-D256-1BA321C81A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D9BB9-5D5C-7FAD-AAC9-8411F9326780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EA03BC0-72C0-F256-109B-F3AF400FB27A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09140B3-C107-6555-FF3D-D6974319A8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78AB836-9C9B-5680-94E0-42B33E7EF3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720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651016" y="3228945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E.O.D.</a:t>
            </a:r>
          </a:p>
        </p:txBody>
      </p:sp>
    </p:spTree>
    <p:extLst>
      <p:ext uri="{BB962C8B-B14F-4D97-AF65-F5344CB8AC3E}">
        <p14:creationId xmlns:p14="http://schemas.microsoft.com/office/powerpoint/2010/main" val="173612384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Google Shape;210;p11">
            <a:extLst>
              <a:ext uri="{FF2B5EF4-FFF2-40B4-BE49-F238E27FC236}">
                <a16:creationId xmlns:a16="http://schemas.microsoft.com/office/drawing/2014/main" id="{25C17269-063F-0D3F-AB0D-207D33A00E17}"/>
              </a:ext>
            </a:extLst>
          </p:cNvPr>
          <p:cNvSpPr txBox="1"/>
          <p:nvPr/>
        </p:nvSpPr>
        <p:spPr>
          <a:xfrm>
            <a:off x="828301" y="4088917"/>
            <a:ext cx="352053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▼ &lt;캠페인디테일&gt; 소재 지출 금액 TOP 10</a:t>
            </a:r>
            <a:endParaRPr lang="ko-KR" altLang="en-US" sz="1050" dirty="0">
              <a:latin typeface="AppleSDGothicNeoL00" panose="02000503000000000000" pitchFamily="2" charset="-127"/>
              <a:ea typeface="AppleSDGothicNeoL00" panose="02000503000000000000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58D36E3-F1E8-0A1F-B3DE-EF31E02B0D6E}"/>
              </a:ext>
            </a:extLst>
          </p:cNvPr>
          <p:cNvGraphicFramePr>
            <a:graphicFrameLocks noGrp="1"/>
          </p:cNvGraphicFramePr>
          <p:nvPr/>
        </p:nvGraphicFramePr>
        <p:xfrm>
          <a:off x="828300" y="4365876"/>
          <a:ext cx="10585449" cy="2064942"/>
        </p:xfrm>
        <a:graphic>
          <a:graphicData uri="http://schemas.openxmlformats.org/drawingml/2006/table">
            <a:tbl>
              <a:tblPr/>
              <a:tblGrid>
                <a:gridCol w="4901940">
                  <a:extLst>
                    <a:ext uri="{9D8B030D-6E8A-4147-A177-3AD203B41FA5}">
                      <a16:colId xmlns:a16="http://schemas.microsoft.com/office/drawing/2014/main" val="3939514919"/>
                    </a:ext>
                  </a:extLst>
                </a:gridCol>
                <a:gridCol w="687977">
                  <a:extLst>
                    <a:ext uri="{9D8B030D-6E8A-4147-A177-3AD203B41FA5}">
                      <a16:colId xmlns:a16="http://schemas.microsoft.com/office/drawing/2014/main" val="2584660740"/>
                    </a:ext>
                  </a:extLst>
                </a:gridCol>
                <a:gridCol w="687977">
                  <a:extLst>
                    <a:ext uri="{9D8B030D-6E8A-4147-A177-3AD203B41FA5}">
                      <a16:colId xmlns:a16="http://schemas.microsoft.com/office/drawing/2014/main" val="2614344999"/>
                    </a:ext>
                  </a:extLst>
                </a:gridCol>
                <a:gridCol w="522515">
                  <a:extLst>
                    <a:ext uri="{9D8B030D-6E8A-4147-A177-3AD203B41FA5}">
                      <a16:colId xmlns:a16="http://schemas.microsoft.com/office/drawing/2014/main" val="3427483589"/>
                    </a:ext>
                  </a:extLst>
                </a:gridCol>
                <a:gridCol w="513805">
                  <a:extLst>
                    <a:ext uri="{9D8B030D-6E8A-4147-A177-3AD203B41FA5}">
                      <a16:colId xmlns:a16="http://schemas.microsoft.com/office/drawing/2014/main" val="3444231315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655320124"/>
                    </a:ext>
                  </a:extLst>
                </a:gridCol>
                <a:gridCol w="687977">
                  <a:extLst>
                    <a:ext uri="{9D8B030D-6E8A-4147-A177-3AD203B41FA5}">
                      <a16:colId xmlns:a16="http://schemas.microsoft.com/office/drawing/2014/main" val="2774377894"/>
                    </a:ext>
                  </a:extLst>
                </a:gridCol>
                <a:gridCol w="801189">
                  <a:extLst>
                    <a:ext uri="{9D8B030D-6E8A-4147-A177-3AD203B41FA5}">
                      <a16:colId xmlns:a16="http://schemas.microsoft.com/office/drawing/2014/main" val="4117157509"/>
                    </a:ext>
                  </a:extLst>
                </a:gridCol>
                <a:gridCol w="618309">
                  <a:extLst>
                    <a:ext uri="{9D8B030D-6E8A-4147-A177-3AD203B41FA5}">
                      <a16:colId xmlns:a16="http://schemas.microsoft.com/office/drawing/2014/main" val="2602735018"/>
                    </a:ext>
                  </a:extLst>
                </a:gridCol>
                <a:gridCol w="493200">
                  <a:extLst>
                    <a:ext uri="{9D8B030D-6E8A-4147-A177-3AD203B41FA5}">
                      <a16:colId xmlns:a16="http://schemas.microsoft.com/office/drawing/2014/main" val="3607561732"/>
                    </a:ext>
                  </a:extLst>
                </a:gridCol>
              </a:tblGrid>
              <a:tr h="18772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소재명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지출금액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CPM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CTR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CPC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CVR(</a:t>
                      </a: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구매</a:t>
                      </a: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CPA(</a:t>
                      </a: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구매</a:t>
                      </a: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매출액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AOV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ROAS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3125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1538942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>
                          <a:effectLst/>
                          <a:latin typeface="AppleSDGothicNeoL00" panose="02000503000000000000" pitchFamily="2" charset="-127"/>
                          <a:ea typeface="AppleSDGothicNeoL00" panose="02000503000000000000" pitchFamily="2" charset="-127"/>
                        </a:rPr>
                        <a:t/>
                      </a:r>
                      <a:endParaRPr lang="en-US" sz="900" dirty="0">
                        <a:effectLst/>
                        <a:latin typeface="AppleSDGothicNeoL00" panose="02000503000000000000" pitchFamily="2" charset="-127"/>
                        <a:ea typeface="AppleSDGothicNeoL00" panose="02000503000000000000" pitchFamily="2" charset="-127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41942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>
                          <a:effectLst/>
                          <a:latin typeface="AppleSDGothicNeoL00" panose="02000503000000000000" pitchFamily="2" charset="-127"/>
                          <a:ea typeface="AppleSDGothicNeoL00" panose="02000503000000000000" pitchFamily="2" charset="-127"/>
                        </a:rPr>
                        <a:t/>
                      </a:r>
                      <a:endParaRPr lang="en-US" sz="900" dirty="0">
                        <a:effectLst/>
                        <a:latin typeface="AppleSDGothicNeoL00" panose="02000503000000000000" pitchFamily="2" charset="-127"/>
                        <a:ea typeface="AppleSDGothicNeoL00" panose="02000503000000000000" pitchFamily="2" charset="-127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5377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11148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>
                          <a:effectLst/>
                          <a:latin typeface="AppleSDGothicNeoL00" panose="02000503000000000000" pitchFamily="2" charset="-127"/>
                          <a:ea typeface="AppleSDGothicNeoL00" panose="02000503000000000000" pitchFamily="2" charset="-127"/>
                        </a:rPr>
                        <a:t/>
                      </a:r>
                      <a:endParaRPr lang="en-US" sz="900" dirty="0">
                        <a:effectLst/>
                        <a:latin typeface="AppleSDGothicNeoL00" panose="02000503000000000000" pitchFamily="2" charset="-127"/>
                        <a:ea typeface="AppleSDGothicNeoL00" panose="02000503000000000000" pitchFamily="2" charset="-127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298057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>
                          <a:effectLst/>
                          <a:latin typeface="AppleSDGothicNeoL00" panose="02000503000000000000" pitchFamily="2" charset="-127"/>
                          <a:ea typeface="AppleSDGothicNeoL00" panose="02000503000000000000" pitchFamily="2" charset="-127"/>
                        </a:rPr>
                        <a:t/>
                      </a:r>
                      <a:endParaRPr lang="en-US" sz="900" dirty="0">
                        <a:effectLst/>
                        <a:latin typeface="AppleSDGothicNeoL00" panose="02000503000000000000" pitchFamily="2" charset="-127"/>
                        <a:ea typeface="AppleSDGothicNeoL00" panose="02000503000000000000" pitchFamily="2" charset="-127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31808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57876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FFFFFF"/>
                        </a:solidFill>
                        <a:effectLst/>
                        <a:latin typeface="AppleSDGothicNeoSB00" panose="02000503000000000000" pitchFamily="2" charset="-127"/>
                        <a:ea typeface="AppleSDGothicNeoSB00" panose="02000503000000000000" pitchFamily="2" charset="-127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05642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FFFFFF"/>
                        </a:solidFill>
                        <a:effectLst/>
                        <a:latin typeface="AppleSDGothicNeoSB00" panose="02000503000000000000" pitchFamily="2" charset="-127"/>
                        <a:ea typeface="AppleSDGothicNeoSB00" panose="02000503000000000000" pitchFamily="2" charset="-127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14189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69587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5FA90A8-737A-BA0C-6BCF-1F6F925546EF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SKIN1004 (국가) (상시/프로모션) 캠페인별 우수 소재 상세 효율</a:t>
            </a:r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AFA9599-0728-074E-EA69-162F4A1D2787}"/>
              </a:ext>
            </a:extLst>
          </p:cNvPr>
          <p:cNvGraphicFramePr>
            <a:graphicFrameLocks noGrp="1"/>
          </p:cNvGraphicFramePr>
          <p:nvPr/>
        </p:nvGraphicFramePr>
        <p:xfrm>
          <a:off x="823725" y="2019776"/>
          <a:ext cx="10585449" cy="2064942"/>
        </p:xfrm>
        <a:graphic>
          <a:graphicData uri="http://schemas.openxmlformats.org/drawingml/2006/table">
            <a:tbl>
              <a:tblPr/>
              <a:tblGrid>
                <a:gridCol w="4897806">
                  <a:extLst>
                    <a:ext uri="{9D8B030D-6E8A-4147-A177-3AD203B41FA5}">
                      <a16:colId xmlns:a16="http://schemas.microsoft.com/office/drawing/2014/main" val="3939514919"/>
                    </a:ext>
                  </a:extLst>
                </a:gridCol>
                <a:gridCol w="748938">
                  <a:extLst>
                    <a:ext uri="{9D8B030D-6E8A-4147-A177-3AD203B41FA5}">
                      <a16:colId xmlns:a16="http://schemas.microsoft.com/office/drawing/2014/main" val="2584660740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614344999"/>
                    </a:ext>
                  </a:extLst>
                </a:gridCol>
                <a:gridCol w="539931">
                  <a:extLst>
                    <a:ext uri="{9D8B030D-6E8A-4147-A177-3AD203B41FA5}">
                      <a16:colId xmlns:a16="http://schemas.microsoft.com/office/drawing/2014/main" val="3427483589"/>
                    </a:ext>
                  </a:extLst>
                </a:gridCol>
                <a:gridCol w="574766">
                  <a:extLst>
                    <a:ext uri="{9D8B030D-6E8A-4147-A177-3AD203B41FA5}">
                      <a16:colId xmlns:a16="http://schemas.microsoft.com/office/drawing/2014/main" val="3444231315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655320124"/>
                    </a:ext>
                  </a:extLst>
                </a:gridCol>
                <a:gridCol w="705394">
                  <a:extLst>
                    <a:ext uri="{9D8B030D-6E8A-4147-A177-3AD203B41FA5}">
                      <a16:colId xmlns:a16="http://schemas.microsoft.com/office/drawing/2014/main" val="2774377894"/>
                    </a:ext>
                  </a:extLst>
                </a:gridCol>
                <a:gridCol w="714103">
                  <a:extLst>
                    <a:ext uri="{9D8B030D-6E8A-4147-A177-3AD203B41FA5}">
                      <a16:colId xmlns:a16="http://schemas.microsoft.com/office/drawing/2014/main" val="41171575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02735018"/>
                    </a:ext>
                  </a:extLst>
                </a:gridCol>
                <a:gridCol w="479917">
                  <a:extLst>
                    <a:ext uri="{9D8B030D-6E8A-4147-A177-3AD203B41FA5}">
                      <a16:colId xmlns:a16="http://schemas.microsoft.com/office/drawing/2014/main" val="3607561732"/>
                    </a:ext>
                  </a:extLst>
                </a:gridCol>
              </a:tblGrid>
              <a:tr h="18772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소재명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지출금액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CPM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CTR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CPC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CVR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장바구니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)</a:t>
                      </a:r>
                      <a:endParaRPr lang="en-US" altLang="ko-KR" sz="900" b="0" i="0" u="none" strike="noStrike" cap="none" dirty="0">
                        <a:solidFill>
                          <a:srgbClr val="FFFFFF"/>
                        </a:solidFill>
                        <a:effectLst/>
                        <a:latin typeface="AppleSDGothicNeoSB00" panose="02000503000000000000" pitchFamily="2" charset="-127"/>
                        <a:ea typeface="AppleSDGothicNeoSB00" panose="02000503000000000000" pitchFamily="2" charset="-127"/>
                        <a:cs typeface="+mn-cs"/>
                        <a:sym typeface="Arial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CPA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장바구니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)</a:t>
                      </a:r>
                      <a:endParaRPr lang="en-US" altLang="ko-KR" sz="900" b="0" i="0" u="none" strike="noStrike" cap="none" dirty="0">
                        <a:solidFill>
                          <a:srgbClr val="FFFFFF"/>
                        </a:solidFill>
                        <a:effectLst/>
                        <a:latin typeface="AppleSDGothicNeoSB00" panose="02000503000000000000" pitchFamily="2" charset="-127"/>
                        <a:ea typeface="AppleSDGothicNeoSB00" panose="02000503000000000000" pitchFamily="2" charset="-127"/>
                        <a:cs typeface="+mn-cs"/>
                        <a:sym typeface="Arial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CVR(</a:t>
                      </a: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구매</a:t>
                      </a: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)</a:t>
                      </a:r>
                      <a:endParaRPr lang="ko-KR" altLang="en-US" sz="900" b="0" i="0" u="none" strike="noStrike" cap="none" dirty="0">
                        <a:solidFill>
                          <a:srgbClr val="FFFFFF"/>
                        </a:solidFill>
                        <a:effectLst/>
                        <a:latin typeface="AppleSDGothicNeoSB00" panose="02000503000000000000" pitchFamily="2" charset="-127"/>
                        <a:ea typeface="AppleSDGothicNeoSB00" panose="02000503000000000000" pitchFamily="2" charset="-127"/>
                        <a:cs typeface="+mn-cs"/>
                        <a:sym typeface="Arial"/>
                      </a:endParaRP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CPA(</a:t>
                      </a:r>
                      <a:r>
                        <a:rPr lang="ko-KR" alt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구매</a:t>
                      </a:r>
                      <a:r>
                        <a:rPr lang="en-US" altLang="ko-KR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)</a:t>
                      </a:r>
                      <a:endParaRPr lang="en-US" sz="900" b="0" i="0" u="none" strike="noStrike" cap="none" dirty="0">
                        <a:solidFill>
                          <a:srgbClr val="FFFFFF"/>
                        </a:solidFill>
                        <a:effectLst/>
                        <a:latin typeface="AppleSDGothicNeoSB00" panose="02000503000000000000" pitchFamily="2" charset="-127"/>
                        <a:ea typeface="AppleSDGothicNeoSB00" panose="02000503000000000000" pitchFamily="2" charset="-127"/>
                        <a:cs typeface="+mn-cs"/>
                        <a:sym typeface="Arial"/>
                      </a:endParaRP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AppleSDGothicNeoSB00" panose="02000503000000000000" pitchFamily="2" charset="-127"/>
                          <a:ea typeface="AppleSDGothicNeoSB00" panose="02000503000000000000" pitchFamily="2" charset="-127"/>
                          <a:cs typeface="+mn-cs"/>
                          <a:sym typeface="Arial"/>
                        </a:rPr>
                        <a:t>ROAS</a:t>
                      </a:r>
                    </a:p>
                  </a:txBody>
                  <a:tcPr marL="16236" marR="16236" marT="10824" marB="1082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3125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538942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41942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5377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11148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298057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31808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557876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056420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14189"/>
                  </a:ext>
                </a:extLst>
              </a:tr>
              <a:tr h="187722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  <a:endParaRPr lang="en-US" altLang="ko-KR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ppleSDGothicNeoL00" panose="02000503000000000000" pitchFamily="2" charset="-128"/>
                        <a:ea typeface="AppleSDGothicNeoL00" panose="02000503000000000000" pitchFamily="2" charset="-128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pleSDGothicNeoL00" panose="02000503000000000000" pitchFamily="2" charset="-128"/>
                          <a:ea typeface="AppleSDGothicNeoL00" panose="02000503000000000000" pitchFamily="2" charset="-128"/>
                          <a:cs typeface="+mn-cs"/>
                          <a:sym typeface="Arial"/>
                        </a:rPr>
                        <a:t/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695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A3DBBE2-883D-7A59-DFD7-0F9C4D9982DA}"/>
              </a:ext>
            </a:extLst>
          </p:cNvPr>
          <p:cNvSpPr txBox="1"/>
          <p:nvPr/>
        </p:nvSpPr>
        <p:spPr>
          <a:xfrm>
            <a:off x="803274" y="1323320"/>
            <a:ext cx="10585451" cy="263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구매 효율 우수 소재 </a:t>
            </a:r>
            <a:r>
              <a:rPr lang="en-US" altLang="ko-KR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(*</a:t>
            </a:r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지출 상위 소재</a:t>
            </a:r>
            <a:r>
              <a:rPr lang="en-US" altLang="ko-KR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중 평균 대비 </a:t>
            </a:r>
            <a:r>
              <a:rPr lang="en-US" altLang="ko-KR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ROAS </a:t>
            </a:r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및 구매 </a:t>
            </a:r>
            <a:r>
              <a:rPr lang="en-US" altLang="ko-KR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CVR </a:t>
            </a:r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우수 소재</a:t>
            </a:r>
            <a:r>
              <a:rPr lang="en-US" altLang="ko-KR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highlight>
                  <a:srgbClr val="E2F0D9"/>
                </a:highlight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)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Google Shape;210;p11">
            <a:extLst>
              <a:ext uri="{FF2B5EF4-FFF2-40B4-BE49-F238E27FC236}">
                <a16:creationId xmlns:a16="http://schemas.microsoft.com/office/drawing/2014/main" id="{9FBF9C71-2FBC-486F-4DAF-356FD773C20C}"/>
              </a:ext>
            </a:extLst>
          </p:cNvPr>
          <p:cNvSpPr txBox="1"/>
          <p:nvPr/>
        </p:nvSpPr>
        <p:spPr>
          <a:xfrm>
            <a:off x="828300" y="1764818"/>
            <a:ext cx="352053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▼ &lt;캠페인디테일&gt; 소재 지출 금액 TOP 10</a:t>
            </a:r>
            <a:endParaRPr lang="ko-KR" altLang="en-US" sz="1050" dirty="0">
              <a:latin typeface="AppleSDGothicNeoL00" panose="02000503000000000000" pitchFamily="2" charset="-127"/>
              <a:ea typeface="AppleSDGothicNeoL00" panose="02000503000000000000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4417</TotalTime>
  <Words>429</Words>
  <Application>Microsoft Office PowerPoint</Application>
  <PresentationFormat>와이드스크린</PresentationFormat>
  <Paragraphs>101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Arial</vt:lpstr>
      <vt:lpstr>맑은 고딕</vt:lpstr>
      <vt:lpstr>AppleSDGothicNeoH00</vt:lpstr>
      <vt:lpstr>AppleSDGothicNeoSB00</vt:lpstr>
      <vt:lpstr>AppleSDGothicNeoB00</vt:lpstr>
      <vt:lpstr>AppleSDGothicNeoM00</vt:lpstr>
      <vt:lpstr>AppleSDGothicNeoL00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김효정</dc:creator>
  <cp:lastModifiedBy>2520183595</cp:lastModifiedBy>
  <cp:revision>979</cp:revision>
  <dcterms:created xsi:type="dcterms:W3CDTF">2022-06-27T06:04:26Z</dcterms:created>
  <dcterms:modified xsi:type="dcterms:W3CDTF">2025-12-19T09:10:29Z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0x010100E170A244AC595943A5EFA281683B30B3</vt:lpwstr>
  </property>
</Properties>
</file>